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Lst>
  <p:sldSz cy="5143500" cx="9144000"/>
  <p:notesSz cx="6858000" cy="9144000"/>
  <p:embeddedFontLst>
    <p:embeddedFont>
      <p:font typeface="Proxima Nova"/>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roximaNova-bold.fntdata"/><Relationship Id="rId12"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roximaNova-boldItalic.fntdata"/><Relationship Id="rId14" Type="http://schemas.openxmlformats.org/officeDocument/2006/relationships/font" Target="fonts/ProximaNova-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b9544ac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b9544ac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b9544ac1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b9544ac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b955807f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b955807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b9544ac1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b9544ac1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b955807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b955807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b955807f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b955807f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b="1" sz="4800"/>
          </a:p>
          <a:p>
            <a:pPr indent="0" lvl="0" marL="0" rtl="0" algn="l">
              <a:spcBef>
                <a:spcPts val="0"/>
              </a:spcBef>
              <a:spcAft>
                <a:spcPts val="0"/>
              </a:spcAft>
              <a:buNone/>
            </a:pPr>
            <a:r>
              <a:rPr b="1" lang="en" sz="4800"/>
              <a:t>MPACT</a:t>
            </a:r>
            <a:endParaRPr b="1" sz="4800"/>
          </a:p>
          <a:p>
            <a:pPr indent="0" lvl="0" marL="0" rtl="0" algn="l">
              <a:spcBef>
                <a:spcPts val="0"/>
              </a:spcBef>
              <a:spcAft>
                <a:spcPts val="0"/>
              </a:spcAft>
              <a:buNone/>
            </a:pPr>
            <a:r>
              <a:rPr b="1" lang="en" sz="3600"/>
              <a:t>M</a:t>
            </a:r>
            <a:r>
              <a:rPr lang="en" sz="3600"/>
              <a:t>obile </a:t>
            </a:r>
            <a:r>
              <a:rPr b="1" lang="en" sz="3600"/>
              <a:t>P</a:t>
            </a:r>
            <a:r>
              <a:rPr lang="en" sz="3600"/>
              <a:t>latform for </a:t>
            </a:r>
            <a:r>
              <a:rPr b="1" lang="en" sz="3600"/>
              <a:t>A</a:t>
            </a:r>
            <a:r>
              <a:rPr lang="en" sz="3600"/>
              <a:t>nti-</a:t>
            </a:r>
            <a:r>
              <a:rPr b="1" lang="en" sz="3600"/>
              <a:t>C</a:t>
            </a:r>
            <a:r>
              <a:rPr lang="en" sz="3600"/>
              <a:t>heating </a:t>
            </a:r>
            <a:r>
              <a:rPr b="1" lang="en" sz="3600"/>
              <a:t>T</a:t>
            </a:r>
            <a:r>
              <a:rPr lang="en" sz="3600"/>
              <a:t>echnology</a:t>
            </a:r>
            <a:endParaRPr b="1" sz="3600"/>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Innovation by GraphR Applications, LLC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 and Our Solution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Mobile phones are becoming an important classroom tool, but teachers worry about students using their phones as they are hard to control in testing environments and easily facilitate cheating. MPACT, our patent-pending anti-cheating technology, solves this issue by giving teachers peace of mind that their students are using phones for their intended purpose.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it Works</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MPACT - a backend design that allows for cheating detection and mitigation on mobile</a:t>
            </a:r>
            <a:r>
              <a:rPr lang="en"/>
              <a:t> platforms</a:t>
            </a:r>
            <a:endParaRPr/>
          </a:p>
          <a:p>
            <a:pPr indent="-342900" lvl="0" marL="457200" rtl="0" algn="l">
              <a:spcBef>
                <a:spcPts val="1600"/>
              </a:spcBef>
              <a:spcAft>
                <a:spcPts val="0"/>
              </a:spcAft>
              <a:buSzPts val="1800"/>
              <a:buChar char="●"/>
            </a:pPr>
            <a:r>
              <a:rPr lang="en"/>
              <a:t>Using minimal mobile data, student devices ping the cloud with information about the device’s status relative to the testing app</a:t>
            </a:r>
            <a:endParaRPr/>
          </a:p>
          <a:p>
            <a:pPr indent="-342900" lvl="0" marL="457200" rtl="0" algn="l">
              <a:spcBef>
                <a:spcPts val="0"/>
              </a:spcBef>
              <a:spcAft>
                <a:spcPts val="0"/>
              </a:spcAft>
              <a:buSzPts val="1800"/>
              <a:buChar char="●"/>
            </a:pPr>
            <a:r>
              <a:rPr lang="en"/>
              <a:t>Backend interprets data and once cheating is found, the teacher is notified</a:t>
            </a:r>
            <a:endParaRPr/>
          </a:p>
          <a:p>
            <a:pPr indent="-342900" lvl="0" marL="457200" rtl="0" algn="l">
              <a:spcBef>
                <a:spcPts val="0"/>
              </a:spcBef>
              <a:spcAft>
                <a:spcPts val="0"/>
              </a:spcAft>
              <a:buSzPts val="1800"/>
              <a:buChar char="●"/>
            </a:pPr>
            <a:r>
              <a:rPr lang="en"/>
              <a:t>The administrator of the test can then investigate the infraction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Implementation</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anti-cheating graphing calculator app allows schools to provide students with an important tool for a fraction of the cost of TI calculators. Instant grading of both final answers and students’ logic as well as the option to restrict features for certain exams give teachers more insight and control than any hardware calculator could.</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Our Tech Can Work for You</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MPACT can be integrated into </a:t>
            </a:r>
            <a:r>
              <a:rPr lang="en"/>
              <a:t>many of Schoology’s features including: homework assignments, tests, and quizzes. MPACT will allow students to use the Schoology app on their phones during class, expanding Schoology’s classroom presence beyond laptops and allowing for greater engagement. MPACT creates a lower bottom line for school districts with mobile platforms already in place but lacking school-wide computer access.</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Details on Our Patent and its </a:t>
            </a:r>
            <a:r>
              <a:rPr lang="en"/>
              <a:t>Adaptability</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While our app and its supporting web infrastructure are living proof-of-concepts of our anti-cheating algorithm’s capabilities, we recognize the real value to Schoology comes from the intellectual property. We’ve filed a patent on the most comprehensive cross-platform cheating detection system ever – taking into account the sensitivity of student privacy and security as well as a classroom’s need for accountability.</a:t>
            </a:r>
            <a:endParaRPr/>
          </a:p>
          <a:p>
            <a:pPr indent="0" lvl="0" marL="0" rtl="0" algn="l">
              <a:spcBef>
                <a:spcPts val="1600"/>
              </a:spcBef>
              <a:spcAft>
                <a:spcPts val="0"/>
              </a:spcAft>
              <a:buClr>
                <a:schemeClr val="dk1"/>
              </a:buClr>
              <a:buSzPts val="1100"/>
              <a:buFont typeface="Arial"/>
              <a:buNone/>
            </a:pPr>
            <a:r>
              <a:rPr lang="en"/>
              <a:t>We believe our technology is a perfect fit for Schoology’s Learning Management System. We are confident that the patent will be granted thanks to our partnership with one of the nation’s leading law firms specializing in technology IP.</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Offer</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first started GraphR, we had grand dreams of </a:t>
            </a:r>
            <a:r>
              <a:rPr lang="en"/>
              <a:t>revolutionizing</a:t>
            </a:r>
            <a:r>
              <a:rPr lang="en"/>
              <a:t> the field of education technology. We still believe that our idea can help mitigate costs to schools and expand technological </a:t>
            </a:r>
            <a:r>
              <a:rPr lang="en"/>
              <a:t>access</a:t>
            </a:r>
            <a:r>
              <a:rPr lang="en"/>
              <a:t> for all students, but as all three founders are entering college this coming year, we are searching for </a:t>
            </a:r>
            <a:r>
              <a:rPr lang="en"/>
              <a:t>opportunities</a:t>
            </a:r>
            <a:r>
              <a:rPr lang="en"/>
              <a:t> to </a:t>
            </a:r>
            <a:r>
              <a:rPr lang="en"/>
              <a:t>license</a:t>
            </a:r>
            <a:r>
              <a:rPr lang="en"/>
              <a:t> or sell our technology.</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